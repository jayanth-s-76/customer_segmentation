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639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-548640"/>
            <a:ext cx="1645920" cy="1645920"/>
          </a:xfrm>
          <a:prstGeom prst="ellipse">
            <a:avLst/>
          </a:prstGeom>
          <a:solidFill>
            <a:srgbClr val="0E3A52"/>
          </a:solidFill>
          <a:ln w="12700">
            <a:solidFill>
              <a:srgbClr val="0E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594360"/>
            <a:ext cx="822960" cy="822960"/>
          </a:xfrm>
          <a:prstGeom prst="ellipse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0" y="-4572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3547872"/>
            <a:ext cx="14630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3098" y="35446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JAYANTH 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5361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594360" y="221284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Analysis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9436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U.S. Market Purchase Data  |  3,900 Customers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" y="4480560"/>
            <a:ext cx="8823960" cy="662940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 Microsoft Excel  • K-Means  •  PowerPoint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structured analyses from raw data to actionable strategy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07008"/>
            <a:ext cx="384048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179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records · 18 columns · 6 derived fields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93392"/>
            <a:ext cx="384048" cy="62179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9339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&amp; Discount Strategy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304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ratings &amp; discount rates by category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79776"/>
            <a:ext cx="384048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7977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Spending by Age Group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090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 vs. spending level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66160"/>
            <a:ext cx="384048" cy="621792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31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3621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&amp; Location Impact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387705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 per season · geographic insights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207008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207008"/>
            <a:ext cx="384048" cy="6217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207008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38928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Clustering (K-Means)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38928" y="15179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 · dominant factors identified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993392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993392"/>
            <a:ext cx="384048" cy="621792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993392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2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38928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38928" y="230428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 marketing strategies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779776"/>
            <a:ext cx="4023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779776"/>
            <a:ext cx="384048" cy="621792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779776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4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38928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38928" y="30906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findings from the analysis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920240" cy="822960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54864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17373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1737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822960"/>
            <a:ext cx="1920240" cy="822960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87168" y="82296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914400"/>
            <a:ext cx="17373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24328" y="1316736"/>
            <a:ext cx="1737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08576" y="822960"/>
            <a:ext cx="1920240" cy="822960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8576" y="822960"/>
            <a:ext cx="54864" cy="82296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914400"/>
            <a:ext cx="17373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45736" y="1316736"/>
            <a:ext cx="1737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9984" y="822960"/>
            <a:ext cx="1920240" cy="822960"/>
          </a:xfrm>
          <a:prstGeom prst="rect">
            <a:avLst/>
          </a:prstGeom>
          <a:solidFill>
            <a:srgbClr val="E0F2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822960"/>
            <a:ext cx="54864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67144" y="914400"/>
            <a:ext cx="17373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67144" y="1316736"/>
            <a:ext cx="17373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Regions Covered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82880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828800"/>
            <a:ext cx="2651760" cy="36576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219456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19456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264414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09372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9372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54330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99288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9288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52928" y="4105275"/>
            <a:ext cx="109728" cy="22479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2920" y="444246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852928" y="4554855"/>
            <a:ext cx="109728" cy="22479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182880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1828800"/>
            <a:ext cx="265176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0" y="219456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219456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Item_Purchased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37560" y="264414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0" y="309372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309372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Purchase_Amount_USD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337560" y="354330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/ Color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0" y="399288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99288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337560" y="444246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Spend_Group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87568" y="4554855"/>
            <a:ext cx="109728" cy="22479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1828800"/>
            <a:ext cx="26517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1828800"/>
            <a:ext cx="265176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1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035040" y="219456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219456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172200" y="264414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035040" y="309372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309372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172200" y="354330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Promo_Code_Used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035040" y="3992880"/>
            <a:ext cx="2651760" cy="4495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399288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Discount_Flag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522208" y="4105275"/>
            <a:ext cx="109728" cy="22479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72200" y="4442460"/>
            <a:ext cx="2331720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Card_Flag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522208" y="4554855"/>
            <a:ext cx="109728" cy="22479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blue = derived/calculated columns created for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Category &amp; Discount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2344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822960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00200" y="82296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36776" y="82296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822960"/>
            <a:ext cx="114300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5496" y="822960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822960"/>
            <a:ext cx="10972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68496" y="82296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822960"/>
            <a:ext cx="10058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5776" y="82296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822960"/>
            <a:ext cx="25603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82296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170432"/>
            <a:ext cx="1234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1704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00200" y="1170432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0" y="1170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$74,200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88920" y="1170432"/>
            <a:ext cx="11430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11704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$59.84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931920" y="1170432"/>
            <a:ext cx="1097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1704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43.79%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1170432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170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1170432"/>
            <a:ext cx="25603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170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deals · BOGO offers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1554480"/>
            <a:ext cx="1234440" cy="38404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55448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00200" y="1554480"/>
            <a:ext cx="1188720" cy="38404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1554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$104,264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88920" y="1554480"/>
            <a:ext cx="1143000" cy="38404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15544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$60.03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1554480"/>
            <a:ext cx="1097280" cy="38404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77640" y="1554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42.08%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0" y="1554480"/>
            <a:ext cx="1005840" cy="38404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1554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1554480"/>
            <a:ext cx="2560320" cy="38404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seasonal discounts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1938528"/>
            <a:ext cx="1234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19385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600200" y="1938528"/>
            <a:ext cx="1188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0" y="19385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$36,093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88920" y="1938528"/>
            <a:ext cx="11430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19385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$60.26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931920" y="1938528"/>
            <a:ext cx="1097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1938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43.24%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0" y="1938528"/>
            <a:ext cx="10058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19385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 ★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35040" y="1938528"/>
            <a:ext cx="25603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19385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as premium quality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" y="2322576"/>
            <a:ext cx="1234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232257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600200" y="2322576"/>
            <a:ext cx="118872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45920" y="232257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$18,524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88920" y="2322576"/>
            <a:ext cx="114300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34640" y="23225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$57.17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931920" y="2322576"/>
            <a:ext cx="109728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7640" y="232257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44.44%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029200" y="2322576"/>
            <a:ext cx="10058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23225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035040" y="2322576"/>
            <a:ext cx="256032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8076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· strong promos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2971800"/>
            <a:ext cx="2084832" cy="1920240"/>
          </a:xfrm>
          <a:prstGeom prst="rect">
            <a:avLst/>
          </a:prstGeom>
          <a:solidFill>
            <a:srgbClr val="D1FAE5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30358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Clothing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75488" y="3364992"/>
            <a:ext cx="1865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engine at $104K. Lowest discount dependency — let quality drive sales.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60320" y="2971800"/>
            <a:ext cx="2084832" cy="1920240"/>
          </a:xfrm>
          <a:prstGeom prst="rect">
            <a:avLst/>
          </a:prstGeom>
          <a:solidFill>
            <a:srgbClr val="DBEAFE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70048" y="30358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Accessories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2670048" y="3364992"/>
            <a:ext cx="1865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discount rate + top revenue. Perfect for bundle/BOGO promotions.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754880" y="2971800"/>
            <a:ext cx="2084832" cy="1920240"/>
          </a:xfrm>
          <a:prstGeom prst="rect">
            <a:avLst/>
          </a:prstGeom>
          <a:solidFill>
            <a:srgbClr val="EDE9FE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64608" y="30358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👟 Footwear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864608" y="3364992"/>
            <a:ext cx="1865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avg rating (3.79). Position as premium. Avoid heavy discounting.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949440" y="2971800"/>
            <a:ext cx="2084832" cy="1920240"/>
          </a:xfrm>
          <a:prstGeom prst="rect">
            <a:avLst/>
          </a:prstGeom>
          <a:solidFill>
            <a:srgbClr val="FEE2E2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9168" y="30358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12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🧥 Outerwear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7059168" y="3364992"/>
            <a:ext cx="18653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revenue + highest discount reliance. Needs clearance strategy.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Spending by Age Group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50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33.72%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card usage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18688" y="80467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18688" y="804672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850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35.12%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Aged card usage (highest)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71616" y="804672"/>
            <a:ext cx="2697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1616" y="804672"/>
            <a:ext cx="64008" cy="96012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850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33.27%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card usage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23774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1920240"/>
            <a:ext cx="13716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98064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Usage 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0" y="1920240"/>
            <a:ext cx="13716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9664" y="1920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1920240"/>
            <a:ext cx="32918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Insight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286000"/>
            <a:ext cx="54864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28600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(&lt; 40)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2286000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16352" y="228600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33.72%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0" y="2286000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87952" y="228600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$60.36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2286000"/>
            <a:ext cx="32918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9552" y="228600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non-card offers (PayPal, cash-back apps)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2761488"/>
            <a:ext cx="237744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761488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276148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Aged (40–55)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0" y="2761488"/>
            <a:ext cx="13716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16352" y="276148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35.12%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0" y="2761488"/>
            <a:ext cx="137160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87952" y="276148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$59.20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0" y="2761488"/>
            <a:ext cx="3291840" cy="475488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9552" y="276148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card use — ideal for cashback &amp; card perks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3236976"/>
            <a:ext cx="23774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236976"/>
            <a:ext cx="54864" cy="47548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23697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(55+)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0" y="3236976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16352" y="323697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33.27%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14800" y="3236976"/>
            <a:ext cx="13716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87952" y="323697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0" y="3236976"/>
            <a:ext cx="329184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9552" y="3236976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card use — optimize traditional payment UX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3712464"/>
            <a:ext cx="2377440" cy="47548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3712464"/>
            <a:ext cx="54864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" y="371246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0" y="3712464"/>
            <a:ext cx="1371600" cy="47548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16352" y="371246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34.08%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114800" y="3712464"/>
            <a:ext cx="1371600" cy="47548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87952" y="371246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0" y="3712464"/>
            <a:ext cx="3291840" cy="475488"/>
          </a:xfrm>
          <a:prstGeom prst="rect">
            <a:avLst/>
          </a:prstGeom>
          <a:solidFill>
            <a:srgbClr val="F0F9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59552" y="371246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nearly identical; preference is the differentiator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526280"/>
            <a:ext cx="841248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45537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 groups spend ~$59–$61. The marketing opportunity lies in </a:t>
            </a: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channel preferences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spending levels.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&amp; Location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states per season by purchase revenue — geographic targeting opportunities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1031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10312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188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" y="1737360"/>
            <a:ext cx="1883664" cy="566928"/>
          </a:xfrm>
          <a:prstGeom prst="rect">
            <a:avLst/>
          </a:prstGeom>
          <a:solidFill>
            <a:srgbClr val="FFFBEB"/>
          </a:solidFill>
          <a:ln w="5080">
            <a:solidFill>
              <a:srgbClr val="FEF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828800"/>
            <a:ext cx="347472" cy="347472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78308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2688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$1,732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395728"/>
            <a:ext cx="1883664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" y="2487168"/>
            <a:ext cx="347472" cy="34747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4414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32688" y="2670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3054096"/>
            <a:ext cx="1883664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145536"/>
            <a:ext cx="347472" cy="34747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09981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Idaho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688" y="33284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$1,622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2103120" cy="1124712"/>
          </a:xfrm>
          <a:prstGeom prst="rect">
            <a:avLst/>
          </a:prstGeom>
          <a:solidFill>
            <a:srgbClr val="FFFBEB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tip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Texas &amp; CA with Fall fashion campaigns.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78608" y="1097280"/>
            <a:ext cx="21031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8608" y="1097280"/>
            <a:ext cx="2103120" cy="566928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70048" y="1143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🌸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081528" y="1188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31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688336" y="1737360"/>
            <a:ext cx="1883664" cy="566928"/>
          </a:xfrm>
          <a:prstGeom prst="rect">
            <a:avLst/>
          </a:prstGeom>
          <a:solidFill>
            <a:srgbClr val="FDF2F8"/>
          </a:solidFill>
          <a:ln w="5080">
            <a:solidFill>
              <a:srgbClr val="FCE7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34056" y="1828800"/>
            <a:ext cx="347472" cy="347472"/>
          </a:xfrm>
          <a:prstGeom prst="ellipse">
            <a:avLst/>
          </a:prstGeom>
          <a:solidFill>
            <a:srgbClr val="831843"/>
          </a:solidFill>
          <a:ln w="12700">
            <a:solidFill>
              <a:srgbClr val="831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34056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45536" y="178308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Nevada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45536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$1,916 ★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88336" y="2395728"/>
            <a:ext cx="1883664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34056" y="2487168"/>
            <a:ext cx="347472" cy="34747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34056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45536" y="24414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145536" y="2670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$1,848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88336" y="3054096"/>
            <a:ext cx="1883664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34056" y="3145536"/>
            <a:ext cx="347472" cy="34747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34056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145536" y="309981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Illinois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145536" y="33284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$1,620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78608" y="3794760"/>
            <a:ext cx="2103120" cy="1124712"/>
          </a:xfrm>
          <a:prstGeom prst="rect">
            <a:avLst/>
          </a:prstGeom>
          <a:solidFill>
            <a:srgbClr val="FDF2F8"/>
          </a:solidFill>
          <a:ln w="6350">
            <a:solidFill>
              <a:srgbClr val="FCE7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70048" y="3840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3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tip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670048" y="40416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Nevada is the #1 state-season combo — launch Spring collection emails in March.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91456" y="1097280"/>
            <a:ext cx="21031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91456" y="1097280"/>
            <a:ext cx="210312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82896" y="1143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5294376" y="1188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901184" y="1737360"/>
            <a:ext cx="1883664" cy="566928"/>
          </a:xfrm>
          <a:prstGeom prst="rect">
            <a:avLst/>
          </a:prstGeom>
          <a:solidFill>
            <a:srgbClr val="EFF6FF"/>
          </a:solidFill>
          <a:ln w="5080">
            <a:solidFill>
              <a:srgbClr val="DBEAF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46904" y="1828800"/>
            <a:ext cx="347472" cy="34747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46904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58384" y="178308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58384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$1,753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901184" y="2395728"/>
            <a:ext cx="1883664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46904" y="2487168"/>
            <a:ext cx="347472" cy="34747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46904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58384" y="24414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Dakota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358384" y="2670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$1,656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901184" y="3054096"/>
            <a:ext cx="1883664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46904" y="3145536"/>
            <a:ext cx="347472" cy="34747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46904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358384" y="309981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358384" y="33284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$1,526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91456" y="3794760"/>
            <a:ext cx="2103120" cy="1124712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82896" y="3840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tip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882896" y="40416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+ Midwest are Summer hotspots — lightweight apparel promos.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004304" y="1097280"/>
            <a:ext cx="21031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004304" y="1097280"/>
            <a:ext cx="210312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095744" y="1143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❄️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7507224" y="1188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114032" y="1737360"/>
            <a:ext cx="1883664" cy="566928"/>
          </a:xfrm>
          <a:prstGeom prst="rect">
            <a:avLst/>
          </a:prstGeom>
          <a:solidFill>
            <a:srgbClr val="F0F9FF"/>
          </a:solidFill>
          <a:ln w="5080">
            <a:solidFill>
              <a:srgbClr val="E0F2F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59752" y="1828800"/>
            <a:ext cx="347472" cy="347472"/>
          </a:xfrm>
          <a:prstGeom prst="ellipse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59752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571232" y="178308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Vermont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7571232" y="20116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$1,885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114032" y="2395728"/>
            <a:ext cx="1883664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59752" y="2487168"/>
            <a:ext cx="347472" cy="34747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59752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571232" y="244144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7571232" y="2670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$1,752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114032" y="3054096"/>
            <a:ext cx="1883664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59752" y="3145536"/>
            <a:ext cx="347472" cy="34747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59752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571232" y="309981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571232" y="332841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$1,631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004304" y="3794760"/>
            <a:ext cx="2103120" cy="1124712"/>
          </a:xfrm>
          <a:prstGeom prst="rect">
            <a:avLst/>
          </a:prstGeom>
          <a:solidFill>
            <a:srgbClr val="F0F9FF"/>
          </a:solidFill>
          <a:ln w="6350">
            <a:solidFill>
              <a:srgbClr val="E0F2F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95744" y="38404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tip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095744" y="404164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Vermont + Virginia: push Outerwear clearance + Winter bundle deals.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-685800"/>
            <a:ext cx="2286000" cy="2286000"/>
          </a:xfrm>
          <a:prstGeom prst="ellipse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640080"/>
            <a:ext cx="914400" cy="914400"/>
          </a:xfrm>
          <a:prstGeom prst="ellipse">
            <a:avLst/>
          </a:prstGeom>
          <a:solidFill>
            <a:srgbClr val="0E3A52"/>
          </a:solidFill>
          <a:ln w="12700">
            <a:solidFill>
              <a:srgbClr val="0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Cluster Profiles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(K=3) on Purchase Amount, Previous Purchases &amp; 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743200" cy="3566160"/>
          </a:xfrm>
          <a:prstGeom prst="rect">
            <a:avLst/>
          </a:prstGeom>
          <a:solidFill>
            <a:srgbClr val="1E1346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7007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High Spenders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1762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2176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5786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53312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~$76 / order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9809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53312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purchases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383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53312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promo 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7856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53312" y="3785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1,254 customers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2560320" cy="475488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42153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· Premium early access · Exclusive memberships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10128" y="1170432"/>
            <a:ext cx="2743200" cy="3566160"/>
          </a:xfrm>
          <a:prstGeom prst="rect">
            <a:avLst/>
          </a:prstGeom>
          <a:solidFill>
            <a:srgbClr val="2A101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0128" y="1170432"/>
            <a:ext cx="2743200" cy="4572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19856" y="17007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Frequent Buyers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19856" y="21762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0" y="2176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19856" y="25786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~$36 / order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19856" y="29809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97680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19856" y="3383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9768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promo use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19856" y="37856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97680" y="3785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1,466 customers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01568" y="4187952"/>
            <a:ext cx="2560320" cy="475488"/>
          </a:xfrm>
          <a:prstGeom prst="rect">
            <a:avLst/>
          </a:prstGeom>
          <a:solidFill>
            <a:srgbClr val="E85D40">
              <a:alpha val="20000"/>
            </a:srgbClr>
          </a:solidFill>
          <a:ln w="6350">
            <a:solidFill>
              <a:srgbClr val="E85D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8144" y="42153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sales · BOGO deals · Influencer campaigns · Urgency triggers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54496" y="1170432"/>
            <a:ext cx="2743200" cy="3566160"/>
          </a:xfrm>
          <a:prstGeom prst="rect">
            <a:avLst/>
          </a:prstGeom>
          <a:solidFill>
            <a:srgbClr val="1F150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54496" y="1170432"/>
            <a:ext cx="2743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64224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64224" y="17007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High Spenders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64224" y="21762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42048" y="21762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+ Young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64224" y="25786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42048" y="2578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~$74 / order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64224" y="29809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242048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purchases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64224" y="33832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42048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64224" y="37856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42048" y="378561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1,180 customers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45936" y="4187952"/>
            <a:ext cx="2560320" cy="475488"/>
          </a:xfrm>
          <a:prstGeom prst="rect">
            <a:avLst/>
          </a:prstGeom>
          <a:solidFill>
            <a:srgbClr val="D97706">
              <a:alpha val="2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421538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campaigns · Welcome discounts · Loyalty points to retain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factors (most → least): </a:t>
            </a: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Purchase Amount  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Previous Purchases  </a:t>
            </a:r>
            <a:r>
              <a:rPr lang="en-US" sz="1050" b="1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11480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82296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Focus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" y="1298448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35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line — light seasonal discounting only. Let quality speak.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176272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— drive with BOGO + bundle promotions.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3054096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3328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Best-rated (3.79★) — position as premium, no heavy discounting.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" y="3931920"/>
            <a:ext cx="54864" cy="65836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revenue — clearance campaigns + flash sales needed.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822960"/>
            <a:ext cx="411480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822960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73168" y="1298448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316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High Spenders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19472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Exclusive loyalty tier rewards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1810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Early access to new collections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9472" y="2048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Premium membership offers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2505456"/>
            <a:ext cx="54864" cy="100584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523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Frequent Buyers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19472" y="27797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Flash sales &amp; time-limited deals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9472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BOGO + influencer promo codes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3255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Social media engagement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73168" y="3712464"/>
            <a:ext cx="54864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High Spenders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19472" y="39867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Onboarding welcome discount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9472" y="4224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Loyalty points from first purchase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9472" y="4462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Targeted retention campaigns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00400"/>
            <a:ext cx="2743200" cy="2743200"/>
          </a:xfrm>
          <a:prstGeom prst="ellipse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" y="4160520"/>
            <a:ext cx="1371600" cy="1371600"/>
          </a:xfrm>
          <a:prstGeom prst="ellipse">
            <a:avLst/>
          </a:prstGeom>
          <a:solidFill>
            <a:srgbClr val="0E3A52"/>
          </a:solidFill>
          <a:ln w="12700">
            <a:solidFill>
              <a:srgbClr val="0E3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findings from the Customer Segmentation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solidFill>
            <a:srgbClr val="0D1E2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02920" cy="658368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28930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customers were successfully segmented into 3 distinct clusters: Loyal High Spenders, Budget Frequent Buyers, and New High Spenders.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8229600" cy="658368"/>
          </a:xfrm>
          <a:prstGeom prst="rect">
            <a:avLst/>
          </a:prstGeom>
          <a:solidFill>
            <a:srgbClr val="0D1E2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93392"/>
            <a:ext cx="502920" cy="65836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9339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0482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 is the dominant clustering factor, followed by Previous Purchases and Age — spend behavior defines customer identity.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8229600" cy="658368"/>
          </a:xfrm>
          <a:prstGeom prst="rect">
            <a:avLst/>
          </a:prstGeom>
          <a:solidFill>
            <a:srgbClr val="0D1E2E"/>
          </a:solidFill>
          <a:ln w="6350">
            <a:solidFill>
              <a:srgbClr val="E85D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52344"/>
            <a:ext cx="502920" cy="658368"/>
          </a:xfrm>
          <a:prstGeom prst="rect">
            <a:avLst/>
          </a:prstGeom>
          <a:solidFill>
            <a:srgbClr val="E85D40">
              <a:alpha val="30000"/>
            </a:srgbClr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5234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5D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80720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is the weakest category ($18,524 revenue, 44.4% discount rate) and requires the most aggressive promotional strategy.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8229600" cy="658368"/>
          </a:xfrm>
          <a:prstGeom prst="rect">
            <a:avLst/>
          </a:prstGeom>
          <a:solidFill>
            <a:srgbClr val="0D1E2E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11296"/>
            <a:ext cx="502920" cy="658368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1129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566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 groups spend nearly the same ($59–$61). The marketing opportunity lies in payment method preferences, not spending levels.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270248"/>
            <a:ext cx="8229600" cy="658368"/>
          </a:xfrm>
          <a:prstGeom prst="rect">
            <a:avLst/>
          </a:prstGeom>
          <a:solidFill>
            <a:srgbClr val="0D1E2E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70248"/>
            <a:ext cx="502920" cy="658368"/>
          </a:xfrm>
          <a:prstGeom prst="rect">
            <a:avLst/>
          </a:prstGeom>
          <a:solidFill>
            <a:srgbClr val="059669">
              <a:alpha val="3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7024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3251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targeting can significantly boost ROI — Nevada in Spring ($1,916) and Vermont in Winter ($1,885) are prime campaign territories.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7537" y="-342900"/>
            <a:ext cx="5486400" cy="5486400"/>
          </a:xfrm>
          <a:prstGeom prst="ellipse">
            <a:avLst/>
          </a:prstGeom>
          <a:solidFill>
            <a:srgbClr val="071520"/>
          </a:solidFill>
          <a:ln w="12700">
            <a:solidFill>
              <a:srgbClr val="07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71800" y="960120"/>
            <a:ext cx="3200400" cy="3200400"/>
          </a:xfrm>
          <a:prstGeom prst="ellipse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74420" y="4160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57350" y="4183380"/>
            <a:ext cx="1645920" cy="347472"/>
          </a:xfrm>
          <a:prstGeom prst="rect">
            <a:avLst/>
          </a:prstGeom>
          <a:solidFill>
            <a:srgbClr val="0E2233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57350" y="4181895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69030" y="4181895"/>
            <a:ext cx="1645920" cy="347472"/>
          </a:xfrm>
          <a:prstGeom prst="rect">
            <a:avLst/>
          </a:prstGeom>
          <a:solidFill>
            <a:srgbClr val="0E2233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0123" y="4181895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00700" y="4172321"/>
            <a:ext cx="1645920" cy="347472"/>
          </a:xfrm>
          <a:prstGeom prst="rect">
            <a:avLst/>
          </a:prstGeom>
          <a:solidFill>
            <a:srgbClr val="0E2233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0869" y="4164877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989</Words>
  <Application>Microsoft Office PowerPoint</Application>
  <PresentationFormat>On-screen Show (16:9)</PresentationFormat>
  <Paragraphs>272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jayanth s</cp:lastModifiedBy>
  <cp:revision>3</cp:revision>
  <dcterms:created xsi:type="dcterms:W3CDTF">2026-05-29T07:43:36Z</dcterms:created>
  <dcterms:modified xsi:type="dcterms:W3CDTF">2026-05-29T07:59:58Z</dcterms:modified>
</cp:coreProperties>
</file>